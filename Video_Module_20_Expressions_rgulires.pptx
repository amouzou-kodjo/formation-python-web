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2926080"/>
            <a:ext cx="12191695" cy="91440"/>
          </a:xfrm>
          <a:prstGeom prst="rect">
            <a:avLst/>
          </a:prstGeom>
          <a:solidFill>
            <a:srgbClr val="FFE8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45720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0">
                <a:solidFill>
                  <a:srgbClr val="666666"/>
                </a:solidFill>
                <a:latin typeface="Calibri"/>
              </a:defRPr>
            </a:pPr>
            <a:r>
              <a:t>Module 20     🔍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1371600"/>
            <a:ext cx="100584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5200" b="1">
                <a:solidFill>
                  <a:srgbClr val="1E1E1E"/>
                </a:solidFill>
                <a:latin typeface="Calibri"/>
              </a:defRPr>
            </a:pPr>
            <a:r>
              <a:t>Expressions régulières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411480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0">
                <a:solidFill>
                  <a:srgbClr val="666666"/>
                </a:solidFill>
                <a:latin typeface="Calibri"/>
              </a:defRPr>
            </a:pPr>
            <a:r>
              <a:t>Partie 3 - Avancé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502920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0">
                <a:solidFill>
                  <a:srgbClr val="666666"/>
                </a:solidFill>
                <a:latin typeface="Calibri"/>
              </a:defRPr>
            </a:pPr>
            <a:r>
              <a:t>Duree : 3h  |  Maîtrisez les regex pour valider, rechercher et transformer du texte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74320" cy="6858000"/>
          </a:xfrm>
          <a:prstGeom prst="rect">
            <a:avLst/>
          </a:prstGeom>
          <a:solidFill>
            <a:srgbClr val="AB47B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274320" y="0"/>
            <a:ext cx="11917375" cy="73152"/>
          </a:xfrm>
          <a:prstGeom prst="rect">
            <a:avLst/>
          </a:prstGeom>
          <a:solidFill>
            <a:srgbClr val="FFE8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27432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AB47BC"/>
                </a:solidFill>
                <a:latin typeface="Calibri"/>
              </a:defRPr>
            </a:pPr>
            <a:r>
              <a:t>Module 20 - Expressions régulières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914400"/>
            <a:ext cx="10058400" cy="45720"/>
          </a:xfrm>
          <a:prstGeom prst="rect">
            <a:avLst/>
          </a:prstGeom>
          <a:solidFill>
            <a:srgbClr val="FFE8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1097280"/>
            <a:ext cx="100584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000" b="1">
                <a:solidFill>
                  <a:srgbClr val="1E1E1E"/>
                </a:solidFill>
                <a:latin typeface="Calibri"/>
              </a:defRPr>
            </a:pPr>
            <a:r>
              <a:t>Introduction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2194560"/>
            <a:ext cx="50292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2400">
                <a:solidFill>
                  <a:srgbClr val="1E1E1E"/>
                </a:solidFill>
                <a:latin typeface="Calibri"/>
              </a:defRPr>
            </a:pPr>
            <a:r>
              <a:t>  Module 20: Expressions régulières</a:t>
            </a:r>
          </a:p>
          <a:p>
            <a:pPr>
              <a:spcAft>
                <a:spcPts val="1000"/>
              </a:spcAft>
              <a:defRPr sz="2400">
                <a:solidFill>
                  <a:srgbClr val="1E1E1E"/>
                </a:solidFill>
                <a:latin typeface="Calibri"/>
              </a:defRPr>
            </a:pPr>
            <a:r>
              <a:t>  Maîtrisez les regex pour valider, rechercher et transformer du texte.</a:t>
            </a:r>
          </a:p>
          <a:p>
            <a:pPr>
              <a:spcAft>
                <a:spcPts val="1000"/>
              </a:spcAft>
              <a:defRPr sz="2400">
                <a:solidFill>
                  <a:srgbClr val="1E1E1E"/>
                </a:solidFill>
                <a:latin typeface="Calibri"/>
              </a:defRPr>
            </a:pPr>
            <a:r>
              <a:t>  Duree : 3h</a:t>
            </a:r>
          </a:p>
          <a:p>
            <a:pPr>
              <a:spcAft>
                <a:spcPts val="1000"/>
              </a:spcAft>
              <a:defRPr sz="2400">
                <a:solidFill>
                  <a:srgbClr val="1E1E1E"/>
                </a:solidFill>
                <a:latin typeface="Calibri"/>
              </a:defRPr>
            </a:pPr>
            <a:r>
              <a:t>  Partie : Avancé</a:t>
            </a:r>
          </a:p>
        </p:txBody>
      </p:sp>
      <p:sp>
        <p:nvSpPr>
          <p:cNvPr id="8" name="Rectangle 7"/>
          <p:cNvSpPr/>
          <p:nvPr/>
        </p:nvSpPr>
        <p:spPr>
          <a:xfrm>
            <a:off x="274320" y="6784848"/>
            <a:ext cx="11917375" cy="73152"/>
          </a:xfrm>
          <a:prstGeom prst="rect">
            <a:avLst/>
          </a:prstGeom>
          <a:solidFill>
            <a:srgbClr val="FFE8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74320" cy="6858000"/>
          </a:xfrm>
          <a:prstGeom prst="rect">
            <a:avLst/>
          </a:prstGeom>
          <a:solidFill>
            <a:srgbClr val="AB47B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274320" y="0"/>
            <a:ext cx="11917375" cy="73152"/>
          </a:xfrm>
          <a:prstGeom prst="rect">
            <a:avLst/>
          </a:prstGeom>
          <a:solidFill>
            <a:srgbClr val="FFE8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27432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AB47BC"/>
                </a:solidFill>
                <a:latin typeface="Calibri"/>
              </a:defRPr>
            </a:pPr>
            <a:r>
              <a:t>Module 20 - Expressions régulières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914400"/>
            <a:ext cx="10058400" cy="45720"/>
          </a:xfrm>
          <a:prstGeom prst="rect">
            <a:avLst/>
          </a:prstGeom>
          <a:solidFill>
            <a:srgbClr val="FFE8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1097280"/>
            <a:ext cx="100584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000" b="1">
                <a:solidFill>
                  <a:srgbClr val="1E1E1E"/>
                </a:solidFill>
                <a:latin typeface="Calibri"/>
              </a:defRPr>
            </a:pPr>
            <a:r>
              <a:t>Concepts cles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2194560"/>
            <a:ext cx="50292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2400">
                <a:solidFill>
                  <a:srgbClr val="1E1E1E"/>
                </a:solidFill>
                <a:latin typeface="Calibri"/>
              </a:defRPr>
            </a:pPr>
            <a:r>
              <a:t>  Decouvrez les concepts fondamentaux de expressions régulières</a:t>
            </a:r>
          </a:p>
          <a:p>
            <a:pPr>
              <a:spcAft>
                <a:spcPts val="1000"/>
              </a:spcAft>
              <a:defRPr sz="2400">
                <a:solidFill>
                  <a:srgbClr val="1E1E1E"/>
                </a:solidFill>
                <a:latin typeface="Calibri"/>
              </a:defRPr>
            </a:pPr>
            <a:r>
              <a:t>  Cas d'usage concrets et exemples pratiques</a:t>
            </a:r>
          </a:p>
          <a:p>
            <a:pPr>
              <a:spcAft>
                <a:spcPts val="1000"/>
              </a:spcAft>
              <a:defRPr sz="2400">
                <a:solidFill>
                  <a:srgbClr val="1E1E1E"/>
                </a:solidFill>
                <a:latin typeface="Calibri"/>
              </a:defRPr>
            </a:pPr>
            <a:r>
              <a:t>  Bonnes pratiques et pieges a eviter</a:t>
            </a:r>
          </a:p>
          <a:p>
            <a:pPr>
              <a:spcAft>
                <a:spcPts val="1000"/>
              </a:spcAft>
              <a:defRPr sz="2400">
                <a:solidFill>
                  <a:srgbClr val="1E1E1E"/>
                </a:solidFill>
                <a:latin typeface="Calibri"/>
              </a:defRPr>
            </a:pPr>
            <a:r>
              <a:t>  Exercices pour valider la comprehension</a:t>
            </a:r>
          </a:p>
        </p:txBody>
      </p:sp>
      <p:sp>
        <p:nvSpPr>
          <p:cNvPr id="8" name="Rectangle 7"/>
          <p:cNvSpPr/>
          <p:nvPr/>
        </p:nvSpPr>
        <p:spPr>
          <a:xfrm>
            <a:off x="274320" y="6784848"/>
            <a:ext cx="11917375" cy="73152"/>
          </a:xfrm>
          <a:prstGeom prst="rect">
            <a:avLst/>
          </a:prstGeom>
          <a:solidFill>
            <a:srgbClr val="FFE8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74320" cy="6858000"/>
          </a:xfrm>
          <a:prstGeom prst="rect">
            <a:avLst/>
          </a:prstGeom>
          <a:solidFill>
            <a:srgbClr val="AB47B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274320" y="0"/>
            <a:ext cx="11917375" cy="73152"/>
          </a:xfrm>
          <a:prstGeom prst="rect">
            <a:avLst/>
          </a:prstGeom>
          <a:solidFill>
            <a:srgbClr val="FFE8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27432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AB47BC"/>
                </a:solidFill>
                <a:latin typeface="Calibri"/>
              </a:defRPr>
            </a:pPr>
            <a:r>
              <a:t>Module 20 - Expressions régulières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914400"/>
            <a:ext cx="10058400" cy="45720"/>
          </a:xfrm>
          <a:prstGeom prst="rect">
            <a:avLst/>
          </a:prstGeom>
          <a:solidFill>
            <a:srgbClr val="FFE8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1097280"/>
            <a:ext cx="100584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000" b="1">
                <a:solidFill>
                  <a:srgbClr val="1E1E1E"/>
                </a:solidFill>
                <a:latin typeface="Calibri"/>
              </a:defRPr>
            </a:pPr>
            <a:r>
              <a:t>Exemple pratique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2194560"/>
            <a:ext cx="50292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2400">
                <a:solidFill>
                  <a:srgbClr val="1E1E1E"/>
                </a:solidFill>
                <a:latin typeface="Calibri"/>
              </a:defRPr>
            </a:pPr>
            <a:r>
              <a:t>  Un exemple concret pour illustrer le module</a:t>
            </a:r>
          </a:p>
          <a:p>
            <a:pPr>
              <a:spcAft>
                <a:spcPts val="1000"/>
              </a:spcAft>
              <a:defRPr sz="2400">
                <a:solidFill>
                  <a:srgbClr val="1E1E1E"/>
                </a:solidFill>
                <a:latin typeface="Calibri"/>
              </a:defRPr>
            </a:pPr>
            <a:r>
              <a:t>  Code commente pas a pas</a:t>
            </a:r>
          </a:p>
          <a:p>
            <a:pPr>
              <a:spcAft>
                <a:spcPts val="1000"/>
              </a:spcAft>
              <a:defRPr sz="2400">
                <a:solidFill>
                  <a:srgbClr val="1E1E1E"/>
                </a:solidFill>
                <a:latin typeface="Calibri"/>
              </a:defRPr>
            </a:pPr>
            <a:r>
              <a:t>  Testez par vous-meme dans votre environnement</a:t>
            </a:r>
          </a:p>
        </p:txBody>
      </p:sp>
      <p:sp>
        <p:nvSpPr>
          <p:cNvPr id="8" name="Rectangle 7"/>
          <p:cNvSpPr/>
          <p:nvPr/>
        </p:nvSpPr>
        <p:spPr>
          <a:xfrm>
            <a:off x="274320" y="6784848"/>
            <a:ext cx="11917375" cy="73152"/>
          </a:xfrm>
          <a:prstGeom prst="rect">
            <a:avLst/>
          </a:prstGeom>
          <a:solidFill>
            <a:srgbClr val="FFE8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74320" cy="6858000"/>
          </a:xfrm>
          <a:prstGeom prst="rect">
            <a:avLst/>
          </a:prstGeom>
          <a:solidFill>
            <a:srgbClr val="AB47B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274320" y="0"/>
            <a:ext cx="11917375" cy="73152"/>
          </a:xfrm>
          <a:prstGeom prst="rect">
            <a:avLst/>
          </a:prstGeom>
          <a:solidFill>
            <a:srgbClr val="FFE8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27432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AB47BC"/>
                </a:solidFill>
                <a:latin typeface="Calibri"/>
              </a:defRPr>
            </a:pPr>
            <a:r>
              <a:t>Module 20 - Expressions régulières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914400"/>
            <a:ext cx="10058400" cy="45720"/>
          </a:xfrm>
          <a:prstGeom prst="rect">
            <a:avLst/>
          </a:prstGeom>
          <a:solidFill>
            <a:srgbClr val="FFE8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1097280"/>
            <a:ext cx="100584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000" b="1">
                <a:solidFill>
                  <a:srgbClr val="1E1E1E"/>
                </a:solidFill>
                <a:latin typeface="Calibri"/>
              </a:defRPr>
            </a:pPr>
            <a:r>
              <a:t>Bonnes pratiques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2194560"/>
            <a:ext cx="50292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2400">
                <a:solidFill>
                  <a:srgbClr val="1E1E1E"/>
                </a:solidFill>
                <a:latin typeface="Calibri"/>
              </a:defRPr>
            </a:pPr>
            <a:r>
              <a:t>  Suivez les conventions Python (PEP 8)</a:t>
            </a:r>
          </a:p>
          <a:p>
            <a:pPr>
              <a:spcAft>
                <a:spcPts val="1000"/>
              </a:spcAft>
              <a:defRPr sz="2400">
                <a:solidFill>
                  <a:srgbClr val="1E1E1E"/>
                </a:solidFill>
                <a:latin typeface="Calibri"/>
              </a:defRPr>
            </a:pPr>
            <a:r>
              <a:t>  Documentez votre code</a:t>
            </a:r>
          </a:p>
          <a:p>
            <a:pPr>
              <a:spcAft>
                <a:spcPts val="1000"/>
              </a:spcAft>
              <a:defRPr sz="2400">
                <a:solidFill>
                  <a:srgbClr val="1E1E1E"/>
                </a:solidFill>
                <a:latin typeface="Calibri"/>
              </a:defRPr>
            </a:pPr>
            <a:r>
              <a:t>  Testez au fur et a mesure</a:t>
            </a:r>
          </a:p>
          <a:p>
            <a:pPr>
              <a:spcAft>
                <a:spcPts val="1000"/>
              </a:spcAft>
              <a:defRPr sz="2400">
                <a:solidFill>
                  <a:srgbClr val="1E1E1E"/>
                </a:solidFill>
                <a:latin typeface="Calibri"/>
              </a:defRPr>
            </a:pPr>
            <a:r>
              <a:t>  Pratiquez regulierement</a:t>
            </a:r>
          </a:p>
        </p:txBody>
      </p:sp>
      <p:sp>
        <p:nvSpPr>
          <p:cNvPr id="8" name="Rectangle 7"/>
          <p:cNvSpPr/>
          <p:nvPr/>
        </p:nvSpPr>
        <p:spPr>
          <a:xfrm>
            <a:off x="274320" y="6784848"/>
            <a:ext cx="11917375" cy="73152"/>
          </a:xfrm>
          <a:prstGeom prst="rect">
            <a:avLst/>
          </a:prstGeom>
          <a:solidFill>
            <a:srgbClr val="FFE8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FFE8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766560"/>
            <a:ext cx="12191695" cy="91440"/>
          </a:xfrm>
          <a:prstGeom prst="rect">
            <a:avLst/>
          </a:prstGeom>
          <a:solidFill>
            <a:srgbClr val="FFE8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1371600"/>
            <a:ext cx="100584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400" b="1">
                <a:solidFill>
                  <a:srgbClr val="1E1E1E"/>
                </a:solidFill>
                <a:latin typeface="Calibri"/>
              </a:defRPr>
            </a:pPr>
            <a:r>
              <a:t>Recapitulatif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828800" y="2743200"/>
            <a:ext cx="822960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2800">
                <a:solidFill>
                  <a:srgbClr val="1E1E1E"/>
                </a:solidFill>
                <a:latin typeface="Calibri"/>
              </a:defRPr>
            </a:pPr>
            <a:r>
              <a:t>  Introduction</a:t>
            </a:r>
          </a:p>
          <a:p>
            <a:pPr>
              <a:spcAft>
                <a:spcPts val="1000"/>
              </a:spcAft>
              <a:defRPr sz="2800">
                <a:solidFill>
                  <a:srgbClr val="1E1E1E"/>
                </a:solidFill>
                <a:latin typeface="Calibri"/>
              </a:defRPr>
            </a:pPr>
            <a:r>
              <a:t>  Concepts cles</a:t>
            </a:r>
          </a:p>
          <a:p>
            <a:pPr>
              <a:spcAft>
                <a:spcPts val="1000"/>
              </a:spcAft>
              <a:defRPr sz="2800">
                <a:solidFill>
                  <a:srgbClr val="1E1E1E"/>
                </a:solidFill>
                <a:latin typeface="Calibri"/>
              </a:defRPr>
            </a:pPr>
            <a:r>
              <a:t>  Exemple pratique</a:t>
            </a:r>
          </a:p>
          <a:p>
            <a:pPr>
              <a:spcAft>
                <a:spcPts val="1000"/>
              </a:spcAft>
              <a:defRPr sz="2800">
                <a:solidFill>
                  <a:srgbClr val="1E1E1E"/>
                </a:solidFill>
                <a:latin typeface="Calibri"/>
              </a:defRPr>
            </a:pPr>
            <a:r>
              <a:t>  Bonnes pratiques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566928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0">
                <a:solidFill>
                  <a:srgbClr val="AB47BC"/>
                </a:solidFill>
                <a:latin typeface="Calibri"/>
              </a:defRPr>
            </a:pPr>
            <a:r>
              <a:t>Module 20 termine !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