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9144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666666"/>
                </a:solidFill>
                <a:latin typeface="Calibri"/>
              </a:defRPr>
            </a:pPr>
            <a:r>
              <a:t>Module 04     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1E1E1E"/>
                </a:solidFill>
                <a:latin typeface="Calibri"/>
              </a:defRPr>
            </a:pPr>
            <a:r>
              <a:t>Listes et tuples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666666"/>
                </a:solidFill>
                <a:latin typeface="Calibri"/>
              </a:defRPr>
            </a:pPr>
            <a:r>
              <a:t>Partie 1 - Les Fondamentaux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66666"/>
                </a:solidFill>
                <a:latin typeface="Calibri"/>
              </a:defRPr>
            </a:pPr>
            <a:r>
              <a:t>Duree : 2h  |  Les collections ordonnées : création, méthodes, slicing, compréhensions simples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A5D6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5D6A7"/>
                </a:solidFill>
                <a:latin typeface="Calibri"/>
              </a:defRPr>
            </a:pPr>
            <a:r>
              <a:t>Module 04 - Listes et tuples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0058400" cy="4572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1E1E"/>
                </a:solidFill>
                <a:latin typeface="Calibri"/>
              </a:defRPr>
            </a:pPr>
            <a:r>
              <a:t>Les listes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Collection ordonnee et modifiable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Creer : ma_liste = [1, 2, 3]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Indexation et slicing (comme les strings)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Methodes : append(), remove(), sort()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011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A5D6A7"/>
                </a:solidFill>
                <a:latin typeface="Calibri"/>
              </a:defRPr>
            </a:pPr>
            <a:r>
              <a:t>Exemple de 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56032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1E1E1E"/>
                </a:solidFill>
                <a:latin typeface="Consolas"/>
              </a:defRPr>
            </a:pPr>
            <a:r>
              <a:t>fruits = ["pomme", "banane", "cerise"]</a:t>
            </a:r>
            <a:br/>
            <a:r>
              <a:t>fruits.append("datte")</a:t>
            </a:r>
            <a:br/>
            <a:r>
              <a:t>fruits.remove("banane")</a:t>
            </a:r>
            <a:br/>
            <a:r>
              <a:t>print(fruits[0])  # pomme</a:t>
            </a:r>
            <a:br/>
            <a:r>
              <a:t>print(fruits[-1]) # datte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6784848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A5D6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5D6A7"/>
                </a:solidFill>
                <a:latin typeface="Calibri"/>
              </a:defRPr>
            </a:pPr>
            <a:r>
              <a:t>Module 04 - Listes et tuples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0058400" cy="4572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1E1E"/>
                </a:solidFill>
                <a:latin typeface="Calibri"/>
              </a:defRPr>
            </a:pPr>
            <a:r>
              <a:t>Les tuples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Collection ordonnee et immuable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Creer : mon_tuple = (1, 2, 3)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Plus rapide qu'une liste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Utilise pour des donnees qui ne changent pas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011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A5D6A7"/>
                </a:solidFill>
                <a:latin typeface="Calibri"/>
              </a:defRPr>
            </a:pPr>
            <a:r>
              <a:t>Exemple de 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56032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1E1E1E"/>
                </a:solidFill>
                <a:latin typeface="Consolas"/>
              </a:defRPr>
            </a:pPr>
            <a:r>
              <a:t>coords = (10, 20)</a:t>
            </a:r>
            <a:br/>
            <a:r>
              <a:t>x, y = coords  # unpacking</a:t>
            </a:r>
            <a:br/>
            <a:r>
              <a:t>print(x)  # 10</a:t>
            </a:r>
            <a:br/>
            <a:br/>
            <a:r>
              <a:t># Immutable</a:t>
            </a:r>
            <a:br/>
            <a:r>
              <a:t># coords[0] = 5  # ERREUR !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6784848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A5D6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5D6A7"/>
                </a:solidFill>
                <a:latin typeface="Calibri"/>
              </a:defRPr>
            </a:pPr>
            <a:r>
              <a:t>Module 04 - Listes et tuples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0058400" cy="4572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1E1E"/>
                </a:solidFill>
                <a:latin typeface="Calibri"/>
              </a:defRPr>
            </a:pPr>
            <a:r>
              <a:t>Methodes courantes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len() : taille de la collection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min(), max(), sum() pour les nombres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in : verifier la presence d'un element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Indexage negatif et slicing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011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A5D6A7"/>
                </a:solidFill>
                <a:latin typeface="Calibri"/>
              </a:defRPr>
            </a:pPr>
            <a:r>
              <a:t>Exemple de 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56032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1E1E1E"/>
                </a:solidFill>
                <a:latin typeface="Consolas"/>
              </a:defRPr>
            </a:pPr>
            <a:r>
              <a:t>notes = [15, 12, 18, 10, 14]</a:t>
            </a:r>
            <a:br/>
            <a:r>
              <a:t>print(len(notes))    # 5</a:t>
            </a:r>
            <a:br/>
            <a:r>
              <a:t>print(sum(notes))    # 69</a:t>
            </a:r>
            <a:br/>
            <a:r>
              <a:t>print(min(notes))    # 10</a:t>
            </a:r>
            <a:br/>
            <a:r>
              <a:t>print(15 in notes)   # True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6784848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E1E1E"/>
                </a:solidFill>
                <a:latin typeface="Calibri"/>
              </a:defRPr>
            </a:pPr>
            <a:r>
              <a:t>Recapitulatif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7432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800">
                <a:solidFill>
                  <a:srgbClr val="1E1E1E"/>
                </a:solidFill>
                <a:latin typeface="Calibri"/>
              </a:defRPr>
            </a:pPr>
            <a:r>
              <a:t>  Les listes</a:t>
            </a:r>
          </a:p>
          <a:p>
            <a:pPr>
              <a:spcAft>
                <a:spcPts val="1000"/>
              </a:spcAft>
              <a:defRPr sz="2800">
                <a:solidFill>
                  <a:srgbClr val="1E1E1E"/>
                </a:solidFill>
                <a:latin typeface="Calibri"/>
              </a:defRPr>
            </a:pPr>
            <a:r>
              <a:t>  Les tuples</a:t>
            </a:r>
          </a:p>
          <a:p>
            <a:pPr>
              <a:spcAft>
                <a:spcPts val="1000"/>
              </a:spcAft>
              <a:defRPr sz="2800">
                <a:solidFill>
                  <a:srgbClr val="1E1E1E"/>
                </a:solidFill>
                <a:latin typeface="Calibri"/>
              </a:defRPr>
            </a:pPr>
            <a:r>
              <a:t>  Methodes courantes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6692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5D6A7"/>
                </a:solidFill>
                <a:latin typeface="Calibri"/>
              </a:defRPr>
            </a:pPr>
            <a:r>
              <a:t>Module 04 termine 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